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rPr sz="1200" b="1">
                <a:solidFill>
                  <a:srgbClr val="0F172A"/>
                </a:solidFill>
              </a:rPr>
              <a:t>Dimension coverage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Expectations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Completeness</c:v>
                </c:pt>
                <c:pt idx="1">
                  <c:v>Uniqueness</c:v>
                </c:pt>
                <c:pt idx="2">
                  <c:v>Validity</c:v>
                </c:pt>
                <c:pt idx="3">
                  <c:v>Consistency</c:v>
                </c:pt>
                <c:pt idx="4">
                  <c:v>Timeliness</c:v>
                </c:pt>
                <c:pt idx="5">
                  <c:v>Accuracy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2</c:v>
                </c:pt>
                <c:pt idx="2">
                  <c:v>6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914400"/>
            <a:ext cx="1463040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 i="0">
                <a:solidFill>
                  <a:srgbClr val="0F172A"/>
                </a:solidFill>
                <a:latin typeface="Segoe UI"/>
              </a:rPr>
              <a:t>PHASE 21 ·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Segoe UI"/>
              </a:rPr>
              <a:t>DataLink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0" i="0">
                <a:solidFill>
                  <a:srgbClr val="DBEAFE"/>
                </a:solidFill>
                <a:latin typeface="Segoe UI"/>
              </a:rPr>
              <a:t>From Bronze to Gold with AI-Authored Expectations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  <a:latin typeface="Segoe UI"/>
              </a:rPr>
              <a:t>How Great Expectations, the DataLink Architect agents, and pipeline</a:t>
            </a:r>
          </a:p>
          <a:p>
            <a:pPr algn="l"/>
            <a:r>
              <a:rPr sz="1600" b="0" i="0">
                <a:solidFill>
                  <a:srgbClr val="E2E8F0"/>
                </a:solidFill>
                <a:latin typeface="Segoe UI"/>
              </a:rPr>
              <a:t>control plug into your existing Airflow + dbt + Snowflake stack.</a:t>
            </a:r>
          </a:p>
        </p:txBody>
      </p:sp>
      <p:sp>
        <p:nvSpPr>
          <p:cNvPr id="9" name="Can 8"/>
          <p:cNvSpPr/>
          <p:nvPr/>
        </p:nvSpPr>
        <p:spPr>
          <a:xfrm>
            <a:off x="1371600" y="4937760"/>
            <a:ext cx="1280160" cy="960120"/>
          </a:xfrm>
          <a:prstGeom prst="can">
            <a:avLst/>
          </a:prstGeom>
          <a:solidFill>
            <a:srgbClr val="B4530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Bronze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43200" y="5212080"/>
            <a:ext cx="457200" cy="41148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n 10"/>
          <p:cNvSpPr/>
          <p:nvPr/>
        </p:nvSpPr>
        <p:spPr>
          <a:xfrm>
            <a:off x="3291840" y="4937760"/>
            <a:ext cx="1280160" cy="960120"/>
          </a:xfrm>
          <a:prstGeom prst="can">
            <a:avLst/>
          </a:prstGeom>
          <a:solidFill>
            <a:srgbClr val="94A3B8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Silver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663440" y="5212080"/>
            <a:ext cx="457200" cy="41148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n 12"/>
          <p:cNvSpPr/>
          <p:nvPr/>
        </p:nvSpPr>
        <p:spPr>
          <a:xfrm>
            <a:off x="5212080" y="4937760"/>
            <a:ext cx="1280160" cy="960120"/>
          </a:xfrm>
          <a:prstGeom prst="can">
            <a:avLst/>
          </a:prstGeom>
          <a:solidFill>
            <a:srgbClr val="D9770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Gold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4937760"/>
            <a:ext cx="2011680" cy="9601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ightning Bolt 14"/>
          <p:cNvSpPr/>
          <p:nvPr/>
        </p:nvSpPr>
        <p:spPr>
          <a:xfrm>
            <a:off x="7863840" y="5029200"/>
            <a:ext cx="228600" cy="365760"/>
          </a:xfrm>
          <a:prstGeom prst="lightningBol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5257800"/>
            <a:ext cx="192024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Segoe UI"/>
              </a:rPr>
              <a:t>DataLink</a:t>
            </a:r>
          </a:p>
          <a:p>
            <a:pPr algn="ctr"/>
            <a:r>
              <a:rPr sz="1100" b="1" i="0">
                <a:solidFill>
                  <a:srgbClr val="7C3AED"/>
                </a:solidFill>
                <a:latin typeface="Segoe UI"/>
              </a:rPr>
              <a:t>AI Architects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Jatin Bhanot · VP Data Operations · datalink-pipeline @ phase-15.5-gold-schema-designer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Where most data pipelines are today — DQ is an afterthought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Segoe UI"/>
              </a:rPr>
              <a:t>Bronze → Silver → Gold with no inline quality checks. Failures surface in dashboards, not in the DAG.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640080" y="1828800"/>
            <a:ext cx="1371600" cy="822960"/>
          </a:xfrm>
          <a:prstGeom prst="cloud">
            <a:avLst/>
          </a:prstGeom>
          <a:solidFill>
            <a:srgbClr val="DBEA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1E3A8A"/>
                </a:solidFill>
                <a:latin typeface="Segoe UI"/>
              </a:rPr>
              <a:t>SQL Server</a:t>
            </a:r>
          </a:p>
          <a:p>
            <a:pPr algn="ctr"/>
            <a:r>
              <a:rPr sz="1000" b="1" i="0">
                <a:solidFill>
                  <a:srgbClr val="1E3A8A"/>
                </a:solidFill>
                <a:latin typeface="Segoe UI"/>
              </a:rPr>
              <a:t>(Claims)</a:t>
            </a:r>
          </a:p>
        </p:txBody>
      </p:sp>
      <p:sp>
        <p:nvSpPr>
          <p:cNvPr id="7" name="Cloud 6"/>
          <p:cNvSpPr/>
          <p:nvPr/>
        </p:nvSpPr>
        <p:spPr>
          <a:xfrm>
            <a:off x="640080" y="2834640"/>
            <a:ext cx="1371600" cy="822960"/>
          </a:xfrm>
          <a:prstGeom prst="cloud">
            <a:avLst/>
          </a:prstGeom>
          <a:solidFill>
            <a:srgbClr val="DBEA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1E3A8A"/>
                </a:solidFill>
                <a:latin typeface="Segoe UI"/>
              </a:rPr>
              <a:t>HL7 / EDI</a:t>
            </a:r>
          </a:p>
          <a:p>
            <a:pPr algn="ctr"/>
            <a:r>
              <a:rPr sz="1000" b="1" i="0">
                <a:solidFill>
                  <a:srgbClr val="1E3A8A"/>
                </a:solidFill>
                <a:latin typeface="Segoe UI"/>
              </a:rPr>
              <a:t>Feeds</a:t>
            </a:r>
          </a:p>
        </p:txBody>
      </p:sp>
      <p:sp>
        <p:nvSpPr>
          <p:cNvPr id="8" name="Cloud 7"/>
          <p:cNvSpPr/>
          <p:nvPr/>
        </p:nvSpPr>
        <p:spPr>
          <a:xfrm>
            <a:off x="640080" y="3840480"/>
            <a:ext cx="1371600" cy="822960"/>
          </a:xfrm>
          <a:prstGeom prst="cloud">
            <a:avLst/>
          </a:prstGeom>
          <a:solidFill>
            <a:srgbClr val="DBEA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1E3A8A"/>
                </a:solidFill>
                <a:latin typeface="Segoe UI"/>
              </a:rPr>
              <a:t>External</a:t>
            </a:r>
          </a:p>
          <a:p>
            <a:pPr algn="ctr"/>
            <a:r>
              <a:rPr sz="1000" b="1" i="0">
                <a:solidFill>
                  <a:srgbClr val="1E3A8A"/>
                </a:solidFill>
                <a:latin typeface="Segoe UI"/>
              </a:rPr>
              <a:t>File Drops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508760"/>
            <a:ext cx="7863840" cy="40233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600200"/>
            <a:ext cx="36576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475569"/>
                </a:solidFill>
                <a:latin typeface="Segoe UI"/>
              </a:rPr>
              <a:t>  Airflow DAG · membership_pipeline</a:t>
            </a:r>
          </a:p>
        </p:txBody>
      </p:sp>
      <p:sp>
        <p:nvSpPr>
          <p:cNvPr id="11" name="Gear 6 10"/>
          <p:cNvSpPr/>
          <p:nvPr/>
        </p:nvSpPr>
        <p:spPr>
          <a:xfrm>
            <a:off x="2606040" y="1627632"/>
            <a:ext cx="256032" cy="256032"/>
          </a:xfrm>
          <a:prstGeom prst="gear6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exagon 11"/>
          <p:cNvSpPr/>
          <p:nvPr/>
        </p:nvSpPr>
        <p:spPr>
          <a:xfrm>
            <a:off x="2743200" y="2743200"/>
            <a:ext cx="1417320" cy="502920"/>
          </a:xfrm>
          <a:prstGeom prst="hexagon">
            <a:avLst/>
          </a:prstGeom>
          <a:solidFill>
            <a:srgbClr val="FFFFFF"/>
          </a:solidFill>
          <a:ln w="1587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0F172A"/>
                </a:solidFill>
                <a:latin typeface="Segoe UI"/>
              </a:rPr>
              <a:t>bronze_ingest</a:t>
            </a:r>
          </a:p>
        </p:txBody>
      </p:sp>
      <p:sp>
        <p:nvSpPr>
          <p:cNvPr id="13" name="Hexagon 12"/>
          <p:cNvSpPr/>
          <p:nvPr/>
        </p:nvSpPr>
        <p:spPr>
          <a:xfrm>
            <a:off x="4572000" y="2743200"/>
            <a:ext cx="1417320" cy="502920"/>
          </a:xfrm>
          <a:prstGeom prst="hexagon">
            <a:avLst/>
          </a:prstGeom>
          <a:solidFill>
            <a:srgbClr val="FFFFFF"/>
          </a:solidFill>
          <a:ln w="1587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0F172A"/>
                </a:solidFill>
                <a:latin typeface="Segoe UI"/>
              </a:rPr>
              <a:t>silver_transform</a:t>
            </a:r>
          </a:p>
        </p:txBody>
      </p:sp>
      <p:sp>
        <p:nvSpPr>
          <p:cNvPr id="14" name="Hexagon 13"/>
          <p:cNvSpPr/>
          <p:nvPr/>
        </p:nvSpPr>
        <p:spPr>
          <a:xfrm>
            <a:off x="6492240" y="2743200"/>
            <a:ext cx="1417320" cy="502920"/>
          </a:xfrm>
          <a:prstGeom prst="hexagon">
            <a:avLst/>
          </a:prstGeom>
          <a:solidFill>
            <a:srgbClr val="FFFFFF"/>
          </a:solidFill>
          <a:ln w="1587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0F172A"/>
                </a:solidFill>
                <a:latin typeface="Segoe UI"/>
              </a:rPr>
              <a:t>gold_load</a:t>
            </a:r>
          </a:p>
        </p:txBody>
      </p:sp>
      <p:sp>
        <p:nvSpPr>
          <p:cNvPr id="15" name="Hexagon 14"/>
          <p:cNvSpPr/>
          <p:nvPr/>
        </p:nvSpPr>
        <p:spPr>
          <a:xfrm>
            <a:off x="8412480" y="2743200"/>
            <a:ext cx="1417320" cy="502920"/>
          </a:xfrm>
          <a:prstGeom prst="hexagon">
            <a:avLst/>
          </a:prstGeom>
          <a:solidFill>
            <a:srgbClr val="FFFFFF"/>
          </a:solidFill>
          <a:ln w="1587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0F172A"/>
                </a:solidFill>
                <a:latin typeface="Segoe UI"/>
              </a:rPr>
              <a:t>publish_gold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60520" y="2907792"/>
            <a:ext cx="411480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989320" y="2907792"/>
            <a:ext cx="411480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909560" y="2907792"/>
            <a:ext cx="411480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n 18"/>
          <p:cNvSpPr/>
          <p:nvPr/>
        </p:nvSpPr>
        <p:spPr>
          <a:xfrm>
            <a:off x="2743200" y="4023360"/>
            <a:ext cx="1417320" cy="960120"/>
          </a:xfrm>
          <a:prstGeom prst="can">
            <a:avLst/>
          </a:prstGeom>
          <a:solidFill>
            <a:srgbClr val="B4530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Bronze</a:t>
            </a:r>
          </a:p>
        </p:txBody>
      </p:sp>
      <p:sp>
        <p:nvSpPr>
          <p:cNvPr id="20" name="Can 19"/>
          <p:cNvSpPr/>
          <p:nvPr/>
        </p:nvSpPr>
        <p:spPr>
          <a:xfrm>
            <a:off x="4572000" y="4023360"/>
            <a:ext cx="1417320" cy="960120"/>
          </a:xfrm>
          <a:prstGeom prst="can">
            <a:avLst/>
          </a:prstGeom>
          <a:solidFill>
            <a:srgbClr val="94A3B8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Silver</a:t>
            </a:r>
          </a:p>
        </p:txBody>
      </p:sp>
      <p:sp>
        <p:nvSpPr>
          <p:cNvPr id="21" name="Can 20"/>
          <p:cNvSpPr/>
          <p:nvPr/>
        </p:nvSpPr>
        <p:spPr>
          <a:xfrm>
            <a:off x="6492240" y="4023360"/>
            <a:ext cx="1417320" cy="960120"/>
          </a:xfrm>
          <a:prstGeom prst="can">
            <a:avLst/>
          </a:prstGeom>
          <a:solidFill>
            <a:srgbClr val="D9770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Gold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456432" y="3246120"/>
            <a:ext cx="0" cy="777240"/>
          </a:xfrm>
          <a:prstGeom prst="line">
            <a:avLst/>
          </a:prstGeom>
          <a:ln w="12700">
            <a:solidFill>
              <a:srgbClr val="CBD5E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285232" y="3246120"/>
            <a:ext cx="0" cy="777240"/>
          </a:xfrm>
          <a:prstGeom prst="line">
            <a:avLst/>
          </a:prstGeom>
          <a:ln w="12700">
            <a:solidFill>
              <a:srgbClr val="CBD5E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05472" y="3246120"/>
            <a:ext cx="0" cy="777240"/>
          </a:xfrm>
          <a:prstGeom prst="line">
            <a:avLst/>
          </a:prstGeom>
          <a:ln w="12700">
            <a:solidFill>
              <a:srgbClr val="CBD5E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606040" y="5166360"/>
            <a:ext cx="7680960" cy="32004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 i="0">
                <a:solidFill>
                  <a:srgbClr val="DC2626"/>
                </a:solidFill>
                <a:latin typeface="Segoe UI"/>
              </a:rPr>
              <a:t>⚠   No DQ checkpoints in the pipeline — bad rows reach Gold before anyone notices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1554480"/>
            <a:ext cx="15544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Segoe UI"/>
              </a:rPr>
              <a:t>Pain today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1920240"/>
            <a:ext cx="1600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Segoe UI"/>
              </a:rPr>
              <a:t>•  DQ runs out-of-band, not in the DAG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2331720"/>
            <a:ext cx="1600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Segoe UI"/>
              </a:rPr>
              <a:t>•  Bad data already in Gold by Tuesday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2743200"/>
            <a:ext cx="1600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Segoe UI"/>
              </a:rPr>
              <a:t>•  Engineers hand-write expectations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3154680"/>
            <a:ext cx="1600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Segoe UI"/>
              </a:rPr>
              <a:t>•  No suite versioning or lineage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3566160"/>
            <a:ext cx="16002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Segoe UI"/>
              </a:rPr>
              <a:t>•  Drift detected by ticket, not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DataLink Command Center · DQ Demo · 11 May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653796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With DataLink — DQ checkpoints live inside the DAG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Segoe UI"/>
              </a:rPr>
              <a:t>Three GX checkpoints (bronze_validate, silver_dq, gold_dq) become first-class Airflow tasks. Critical fail = pipeline halts.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5"/>
          <p:cNvSpPr/>
          <p:nvPr/>
        </p:nvSpPr>
        <p:spPr>
          <a:xfrm>
            <a:off x="502920" y="2194560"/>
            <a:ext cx="1280160" cy="777240"/>
          </a:xfrm>
          <a:prstGeom prst="cloud">
            <a:avLst/>
          </a:prstGeom>
          <a:solidFill>
            <a:srgbClr val="DBEA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1E3A8A"/>
                </a:solidFill>
                <a:latin typeface="Segoe UI"/>
              </a:rPr>
              <a:t>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417320"/>
            <a:ext cx="9692640" cy="42062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48840" y="1508760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475569"/>
                </a:solidFill>
                <a:latin typeface="Segoe UI"/>
              </a:rPr>
              <a:t>  Airflow DAG · factory-generated per (client, dataset)</a:t>
            </a:r>
          </a:p>
        </p:txBody>
      </p:sp>
      <p:sp>
        <p:nvSpPr>
          <p:cNvPr id="9" name="Gear 6 8"/>
          <p:cNvSpPr/>
          <p:nvPr/>
        </p:nvSpPr>
        <p:spPr>
          <a:xfrm>
            <a:off x="2148840" y="1536192"/>
            <a:ext cx="256032" cy="256032"/>
          </a:xfrm>
          <a:prstGeom prst="gear6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1645920" y="2194560"/>
            <a:ext cx="1188720" cy="502920"/>
          </a:xfrm>
          <a:prstGeom prst="hexagon">
            <a:avLst/>
          </a:prstGeom>
          <a:solidFill>
            <a:srgbClr val="FFFFFF"/>
          </a:solidFill>
          <a:ln w="1587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0F172A"/>
                </a:solidFill>
                <a:latin typeface="Segoe UI"/>
              </a:rPr>
              <a:t>bronze_ingest</a:t>
            </a:r>
          </a:p>
        </p:txBody>
      </p:sp>
      <p:sp>
        <p:nvSpPr>
          <p:cNvPr id="11" name="Hexagon 10"/>
          <p:cNvSpPr/>
          <p:nvPr/>
        </p:nvSpPr>
        <p:spPr>
          <a:xfrm>
            <a:off x="3063240" y="2194560"/>
            <a:ext cx="1188720" cy="502920"/>
          </a:xfrm>
          <a:prstGeom prst="hexagon">
            <a:avLst/>
          </a:prstGeom>
          <a:solidFill>
            <a:srgbClr val="D1FAE5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0F172A"/>
                </a:solidFill>
                <a:latin typeface="Segoe UI"/>
              </a:rPr>
              <a:t>bronze_validate</a:t>
            </a:r>
          </a:p>
        </p:txBody>
      </p:sp>
      <p:sp>
        <p:nvSpPr>
          <p:cNvPr id="12" name="Hexagon 11"/>
          <p:cNvSpPr/>
          <p:nvPr/>
        </p:nvSpPr>
        <p:spPr>
          <a:xfrm>
            <a:off x="4480559" y="2194560"/>
            <a:ext cx="1188720" cy="502920"/>
          </a:xfrm>
          <a:prstGeom prst="hexagon">
            <a:avLst/>
          </a:prstGeom>
          <a:solidFill>
            <a:srgbClr val="FFFFFF"/>
          </a:solidFill>
          <a:ln w="1587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0F172A"/>
                </a:solidFill>
                <a:latin typeface="Segoe UI"/>
              </a:rPr>
              <a:t>silver_transform</a:t>
            </a:r>
          </a:p>
        </p:txBody>
      </p:sp>
      <p:sp>
        <p:nvSpPr>
          <p:cNvPr id="13" name="Hexagon 12"/>
          <p:cNvSpPr/>
          <p:nvPr/>
        </p:nvSpPr>
        <p:spPr>
          <a:xfrm>
            <a:off x="5897879" y="2194560"/>
            <a:ext cx="1188720" cy="502920"/>
          </a:xfrm>
          <a:prstGeom prst="hexagon">
            <a:avLst/>
          </a:prstGeom>
          <a:solidFill>
            <a:srgbClr val="D1FAE5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0F172A"/>
                </a:solidFill>
                <a:latin typeface="Segoe UI"/>
              </a:rPr>
              <a:t>silver_dq</a:t>
            </a:r>
          </a:p>
        </p:txBody>
      </p:sp>
      <p:sp>
        <p:nvSpPr>
          <p:cNvPr id="14" name="Hexagon 13"/>
          <p:cNvSpPr/>
          <p:nvPr/>
        </p:nvSpPr>
        <p:spPr>
          <a:xfrm>
            <a:off x="7315200" y="2194560"/>
            <a:ext cx="1188720" cy="502920"/>
          </a:xfrm>
          <a:prstGeom prst="hexagon">
            <a:avLst/>
          </a:prstGeom>
          <a:solidFill>
            <a:srgbClr val="FFFFFF"/>
          </a:solidFill>
          <a:ln w="1587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0F172A"/>
                </a:solidFill>
                <a:latin typeface="Segoe UI"/>
              </a:rPr>
              <a:t>gold_load</a:t>
            </a:r>
          </a:p>
        </p:txBody>
      </p:sp>
      <p:sp>
        <p:nvSpPr>
          <p:cNvPr id="15" name="Hexagon 14"/>
          <p:cNvSpPr/>
          <p:nvPr/>
        </p:nvSpPr>
        <p:spPr>
          <a:xfrm>
            <a:off x="8732519" y="2194560"/>
            <a:ext cx="1188720" cy="502920"/>
          </a:xfrm>
          <a:prstGeom prst="hexagon">
            <a:avLst/>
          </a:prstGeom>
          <a:solidFill>
            <a:srgbClr val="D1FAE5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0F172A"/>
                </a:solidFill>
                <a:latin typeface="Segoe UI"/>
              </a:rPr>
              <a:t>gold_dq</a:t>
            </a:r>
          </a:p>
        </p:txBody>
      </p:sp>
      <p:sp>
        <p:nvSpPr>
          <p:cNvPr id="16" name="Hexagon 15"/>
          <p:cNvSpPr/>
          <p:nvPr/>
        </p:nvSpPr>
        <p:spPr>
          <a:xfrm>
            <a:off x="10149840" y="2194560"/>
            <a:ext cx="1188720" cy="502920"/>
          </a:xfrm>
          <a:prstGeom prst="hexagon">
            <a:avLst/>
          </a:prstGeom>
          <a:solidFill>
            <a:srgbClr val="FFFFFF"/>
          </a:solidFill>
          <a:ln w="1587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0F172A"/>
                </a:solidFill>
                <a:latin typeface="Segoe UI"/>
              </a:rPr>
              <a:t>publish_gold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34640" y="2441448"/>
            <a:ext cx="228600" cy="0"/>
          </a:xfrm>
          <a:prstGeom prst="line">
            <a:avLst/>
          </a:prstGeom>
          <a:ln w="19050">
            <a:solidFill>
              <a:srgbClr val="47556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51960" y="2441448"/>
            <a:ext cx="228599" cy="0"/>
          </a:xfrm>
          <a:prstGeom prst="line">
            <a:avLst/>
          </a:prstGeom>
          <a:ln w="19050">
            <a:solidFill>
              <a:srgbClr val="47556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669280" y="2441448"/>
            <a:ext cx="228599" cy="0"/>
          </a:xfrm>
          <a:prstGeom prst="line">
            <a:avLst/>
          </a:prstGeom>
          <a:ln w="19050">
            <a:solidFill>
              <a:srgbClr val="47556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086600" y="2441448"/>
            <a:ext cx="228600" cy="0"/>
          </a:xfrm>
          <a:prstGeom prst="line">
            <a:avLst/>
          </a:prstGeom>
          <a:ln w="19050">
            <a:solidFill>
              <a:srgbClr val="47556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03920" y="2441448"/>
            <a:ext cx="228599" cy="0"/>
          </a:xfrm>
          <a:prstGeom prst="line">
            <a:avLst/>
          </a:prstGeom>
          <a:ln w="19050">
            <a:solidFill>
              <a:srgbClr val="47556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921240" y="2441448"/>
            <a:ext cx="228600" cy="0"/>
          </a:xfrm>
          <a:prstGeom prst="line">
            <a:avLst/>
          </a:prstGeom>
          <a:ln w="19050">
            <a:solidFill>
              <a:srgbClr val="47556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n 22"/>
          <p:cNvSpPr/>
          <p:nvPr/>
        </p:nvSpPr>
        <p:spPr>
          <a:xfrm>
            <a:off x="2240280" y="3657600"/>
            <a:ext cx="1280160" cy="914400"/>
          </a:xfrm>
          <a:prstGeom prst="can">
            <a:avLst/>
          </a:prstGeom>
          <a:solidFill>
            <a:srgbClr val="B45309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Bronze</a:t>
            </a:r>
          </a:p>
        </p:txBody>
      </p:sp>
      <p:sp>
        <p:nvSpPr>
          <p:cNvPr id="24" name="Can 23"/>
          <p:cNvSpPr/>
          <p:nvPr/>
        </p:nvSpPr>
        <p:spPr>
          <a:xfrm>
            <a:off x="5074920" y="3657600"/>
            <a:ext cx="1280160" cy="914400"/>
          </a:xfrm>
          <a:prstGeom prst="can">
            <a:avLst/>
          </a:prstGeom>
          <a:solidFill>
            <a:srgbClr val="94A3B8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Silver</a:t>
            </a:r>
          </a:p>
        </p:txBody>
      </p:sp>
      <p:sp>
        <p:nvSpPr>
          <p:cNvPr id="25" name="Can 24"/>
          <p:cNvSpPr/>
          <p:nvPr/>
        </p:nvSpPr>
        <p:spPr>
          <a:xfrm>
            <a:off x="7909560" y="3657600"/>
            <a:ext cx="1280160" cy="914400"/>
          </a:xfrm>
          <a:prstGeom prst="can">
            <a:avLst/>
          </a:prstGeom>
          <a:solidFill>
            <a:srgbClr val="D97706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Gold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4846320"/>
            <a:ext cx="7498079" cy="68580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48920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Segoe UI"/>
              </a:rPr>
              <a:t>  Great Expectations · checkpoint runner (containerised)</a:t>
            </a:r>
          </a:p>
        </p:txBody>
      </p:sp>
      <p:sp>
        <p:nvSpPr>
          <p:cNvPr id="28" name="Gear 6 27"/>
          <p:cNvSpPr/>
          <p:nvPr/>
        </p:nvSpPr>
        <p:spPr>
          <a:xfrm>
            <a:off x="3108960" y="4901184"/>
            <a:ext cx="237744" cy="237744"/>
          </a:xfrm>
          <a:prstGeom prst="gear6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516636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Loads suite_id from CONTROL.dq_suites · writes results to dq_validation_runs · emits OpenTelemetry metrics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3657600" y="2697480"/>
            <a:ext cx="0" cy="2148840"/>
          </a:xfrm>
          <a:prstGeom prst="line">
            <a:avLst/>
          </a:prstGeom>
          <a:ln w="15240">
            <a:solidFill>
              <a:srgbClr val="10B98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492240" y="2697480"/>
            <a:ext cx="0" cy="2148840"/>
          </a:xfrm>
          <a:prstGeom prst="line">
            <a:avLst/>
          </a:prstGeom>
          <a:ln w="15240">
            <a:solidFill>
              <a:srgbClr val="10B98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9326880" y="2697480"/>
            <a:ext cx="0" cy="2148840"/>
          </a:xfrm>
          <a:prstGeom prst="line">
            <a:avLst/>
          </a:prstGeom>
          <a:ln w="15240">
            <a:solidFill>
              <a:srgbClr val="10B98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469880" y="5852160"/>
            <a:ext cx="1417320" cy="640080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0" y="5897880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  <a:latin typeface="Segoe UI"/>
              </a:rPr>
              <a:t>HALT on critical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126480"/>
            <a:ext cx="13716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0" i="0">
                <a:solidFill>
                  <a:srgbClr val="DC2626"/>
                </a:solidFill>
                <a:latin typeface="Segoe UI"/>
              </a:rPr>
              <a:t>fail · pipeline pauses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1783080" y="2441448"/>
            <a:ext cx="457200" cy="27432"/>
          </a:xfrm>
          <a:prstGeom prst="line">
            <a:avLst/>
          </a:prstGeom>
          <a:ln w="19050">
            <a:solidFill>
              <a:srgbClr val="47556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DataLink Command Center · DQ Demo · 11 May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53796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AI-authored expectations — DqSuiteArchitectAgent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Segoe UI"/>
              </a:rPr>
              <a:t>Claude Haiku proposes ≤30 expectations per (dataset, layer), balanced across 6 quality dimensions. Engineer reviews → promotes.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cument 5"/>
          <p:cNvSpPr/>
          <p:nvPr/>
        </p:nvSpPr>
        <p:spPr>
          <a:xfrm>
            <a:off x="640080" y="1554480"/>
            <a:ext cx="1554480" cy="960120"/>
          </a:xfrm>
          <a:prstGeom prst="flowChartDocument">
            <a:avLst/>
          </a:prstGeom>
          <a:solidFill>
            <a:srgbClr val="FFFFFF"/>
          </a:solidFill>
          <a:ln w="1587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i="0">
                <a:solidFill>
                  <a:srgbClr val="0F172A"/>
                </a:solidFill>
                <a:latin typeface="Segoe UI"/>
              </a:rPr>
              <a:t>Layer schema</a:t>
            </a:r>
          </a:p>
          <a:p>
            <a:pPr algn="ctr"/>
            <a:r>
              <a:rPr sz="1000" b="0" i="0">
                <a:solidFill>
                  <a:srgbClr val="0F172A"/>
                </a:solidFill>
                <a:latin typeface="Segoe UI"/>
              </a:rPr>
              <a:t>+ sample rows</a:t>
            </a:r>
          </a:p>
          <a:p>
            <a:pPr algn="ctr"/>
            <a:r>
              <a:rPr sz="1000" b="0" i="0">
                <a:solidFill>
                  <a:srgbClr val="0F172A"/>
                </a:solidFill>
                <a:latin typeface="Segoe UI"/>
              </a:rPr>
              <a:t>(PHI-redacted)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40280" y="1938528"/>
            <a:ext cx="365760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97480" y="1508760"/>
            <a:ext cx="2194560" cy="10972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ightning Bolt 8"/>
          <p:cNvSpPr/>
          <p:nvPr/>
        </p:nvSpPr>
        <p:spPr>
          <a:xfrm>
            <a:off x="2788920" y="1600200"/>
            <a:ext cx="228600" cy="365760"/>
          </a:xfrm>
          <a:prstGeom prst="lightningBol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828800"/>
            <a:ext cx="2103120" cy="73151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Segoe UI"/>
              </a:rPr>
              <a:t>DqSuiteArchitect</a:t>
            </a:r>
          </a:p>
          <a:p>
            <a:pPr algn="ctr"/>
            <a:r>
              <a:rPr sz="1100" b="1" i="0">
                <a:solidFill>
                  <a:srgbClr val="7C3AED"/>
                </a:solidFill>
                <a:latin typeface="Segoe UI"/>
              </a:rPr>
              <a:t>Claude Haiku 4.5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37760" y="1938528"/>
            <a:ext cx="365760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cument 11"/>
          <p:cNvSpPr/>
          <p:nvPr/>
        </p:nvSpPr>
        <p:spPr>
          <a:xfrm>
            <a:off x="5394960" y="1554480"/>
            <a:ext cx="1828800" cy="960120"/>
          </a:xfrm>
          <a:prstGeom prst="flowChartDocument">
            <a:avLst/>
          </a:prstGeom>
          <a:solidFill>
            <a:srgbClr val="EDE9FE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7C3AED"/>
                </a:solidFill>
                <a:latin typeface="Segoe UI"/>
              </a:rPr>
              <a:t>Draft suite</a:t>
            </a:r>
          </a:p>
          <a:p>
            <a:pPr algn="ctr"/>
            <a:r>
              <a:rPr sz="1000" b="1" i="0">
                <a:solidFill>
                  <a:srgbClr val="7C3AED"/>
                </a:solidFill>
                <a:latin typeface="Segoe UI"/>
              </a:rPr>
              <a:t>≤30 expectations</a:t>
            </a:r>
          </a:p>
          <a:p>
            <a:pPr algn="ctr"/>
            <a:r>
              <a:rPr sz="1000" b="1" i="0">
                <a:solidFill>
                  <a:srgbClr val="7C3AED"/>
                </a:solidFill>
                <a:latin typeface="Segoe UI"/>
              </a:rPr>
              <a:t>JSON + rationale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269480" y="1938528"/>
            <a:ext cx="365760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26679" y="1554480"/>
            <a:ext cx="1737360" cy="960120"/>
          </a:xfrm>
          <a:prstGeom prst="roundRect">
            <a:avLst/>
          </a:prstGeom>
          <a:solidFill>
            <a:srgbClr val="DBEAFE"/>
          </a:solidFill>
          <a:ln w="15875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1E3A8A"/>
                </a:solidFill>
                <a:latin typeface="Segoe UI"/>
              </a:rPr>
              <a:t>Engineer review</a:t>
            </a:r>
          </a:p>
          <a:p>
            <a:pPr algn="ctr"/>
            <a:r>
              <a:rPr sz="1000" b="1" i="0">
                <a:solidFill>
                  <a:srgbClr val="1E3A8A"/>
                </a:solidFill>
                <a:latin typeface="Segoe UI"/>
              </a:rPr>
              <a:t>DQ Author page</a:t>
            </a:r>
          </a:p>
          <a:p>
            <a:pPr algn="ctr"/>
            <a:r>
              <a:rPr sz="1000" b="1" i="0">
                <a:solidFill>
                  <a:srgbClr val="1E3A8A"/>
                </a:solidFill>
                <a:latin typeface="Segoe UI"/>
              </a:rPr>
              <a:t>(approve / tweak)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509760" y="1938528"/>
            <a:ext cx="365760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966960" y="1554480"/>
            <a:ext cx="1737360" cy="960120"/>
          </a:xfrm>
          <a:prstGeom prst="roundRect">
            <a:avLst/>
          </a:prstGeom>
          <a:solidFill>
            <a:srgbClr val="D1FAE5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10B981"/>
                </a:solidFill>
                <a:latin typeface="Segoe UI"/>
              </a:rPr>
              <a:t>Promote</a:t>
            </a:r>
          </a:p>
          <a:p>
            <a:pPr algn="ctr"/>
            <a:r>
              <a:rPr sz="1000" b="1" i="0">
                <a:solidFill>
                  <a:srgbClr val="10B981"/>
                </a:solidFill>
                <a:latin typeface="Segoe UI"/>
              </a:rPr>
              <a:t>DRAFT → LIVE</a:t>
            </a:r>
          </a:p>
          <a:p>
            <a:pPr algn="ctr"/>
            <a:r>
              <a:rPr sz="1000" b="1" i="0">
                <a:solidFill>
                  <a:srgbClr val="10B981"/>
                </a:solidFill>
                <a:latin typeface="Segoe UI"/>
              </a:rPr>
              <a:t>Factory DAG picks 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80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Six quality dimensions — every suite must touch all six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29000"/>
            <a:ext cx="18288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429000"/>
            <a:ext cx="18288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3016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Segoe UI"/>
              </a:rPr>
              <a:t>✓  Completeness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19" y="3977639"/>
            <a:ext cx="16459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Segoe UI"/>
              </a:rPr>
              <a:t>expect_column_values_to_not_be_null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06039" y="3429000"/>
            <a:ext cx="18288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06039" y="3429000"/>
            <a:ext cx="1828800" cy="16459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6039" y="363016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1E3A8A"/>
                </a:solidFill>
                <a:latin typeface="Segoe UI"/>
              </a:rPr>
              <a:t>★  Uniqueness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79" y="3977639"/>
            <a:ext cx="16459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Segoe UI"/>
              </a:rPr>
              <a:t>expect_column_values_to_be_unique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429000"/>
            <a:ext cx="18288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3429000"/>
            <a:ext cx="18288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363016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  <a:latin typeface="Segoe UI"/>
              </a:rPr>
              <a:t>✎  Validity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977639"/>
            <a:ext cx="16459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Segoe UI"/>
              </a:rPr>
              <a:t>expect_column_values_to_match_regex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59" y="3429000"/>
            <a:ext cx="18288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37959" y="3429000"/>
            <a:ext cx="1828800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59" y="363016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  <a:latin typeface="Segoe UI"/>
              </a:rPr>
              <a:t>≡  Consistency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399" y="3977639"/>
            <a:ext cx="16459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Segoe UI"/>
              </a:rPr>
              <a:t>expect_column_pair_values_A_to_be_equal_to_B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19" y="3429000"/>
            <a:ext cx="18288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03919" y="3429000"/>
            <a:ext cx="1828800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19" y="363016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Segoe UI"/>
              </a:rPr>
              <a:t>⏱  Timeliness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59" y="3977639"/>
            <a:ext cx="16459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Segoe UI"/>
              </a:rPr>
              <a:t>expect_column_max_to_be_between (today − 7)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69880" y="3429000"/>
            <a:ext cx="18288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469880" y="3429000"/>
            <a:ext cx="1828800" cy="1645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69880" y="3630168"/>
            <a:ext cx="18288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Segoe UI"/>
              </a:rPr>
              <a:t>◎  Accuracy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61319" y="3977639"/>
            <a:ext cx="16459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1">
                <a:solidFill>
                  <a:srgbClr val="475569"/>
                </a:solidFill>
                <a:latin typeface="Segoe UI"/>
              </a:rPr>
              <a:t>expect_column_values_to_be_in_set (ref lookup)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120640"/>
            <a:ext cx="11064240" cy="77724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212080"/>
            <a:ext cx="107899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 i="0">
                <a:solidFill>
                  <a:srgbClr val="7C3AED"/>
                </a:solidFill>
                <a:latin typeface="Segoe UI"/>
              </a:rPr>
              <a:t>Guardrails  ·   ≤ 30 expectations per suite   ·   PHI/PII columns excluded from sample payload   ·   every proposal includes severity + rationale   ·   token + latency emitted as OTLP metrics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DataLink Command Center · DQ Demo · 11 May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653796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Suite lifecycle &amp; pipeline-control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Segoe UI"/>
              </a:rPr>
              <a:t>Versioned suites · explicit promote step · DQ failures and schema drift drive the same control plane.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Suite state machine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783080"/>
            <a:ext cx="182880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 i="0">
                <a:solidFill>
                  <a:srgbClr val="475569"/>
                </a:solidFill>
                <a:latin typeface="Segoe UI"/>
              </a:rPr>
              <a:t>DRAFT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783080"/>
            <a:ext cx="1828800" cy="5943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 i="0">
                <a:solidFill>
                  <a:srgbClr val="F59E0B"/>
                </a:solidFill>
                <a:latin typeface="Segoe UI"/>
              </a:rPr>
              <a:t>PENDING_REVIEW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783080"/>
            <a:ext cx="1828800" cy="59436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 i="0">
                <a:solidFill>
                  <a:srgbClr val="10B981"/>
                </a:solidFill>
                <a:latin typeface="Segoe UI"/>
              </a:rPr>
              <a:t>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83080"/>
            <a:ext cx="1828800" cy="594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 i="0">
                <a:solidFill>
                  <a:srgbClr val="64748B"/>
                </a:solidFill>
                <a:latin typeface="Segoe UI"/>
              </a:rPr>
              <a:t>ARCHIVED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2084831"/>
            <a:ext cx="548640" cy="0"/>
          </a:xfrm>
          <a:prstGeom prst="line">
            <a:avLst/>
          </a:prstGeom>
          <a:ln w="19050">
            <a:solidFill>
              <a:srgbClr val="47556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97479" y="1764791"/>
            <a:ext cx="7315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Segoe UI"/>
              </a:rPr>
              <a:t>submit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120640" y="2084831"/>
            <a:ext cx="640080" cy="0"/>
          </a:xfrm>
          <a:prstGeom prst="line">
            <a:avLst/>
          </a:prstGeom>
          <a:ln w="19050">
            <a:solidFill>
              <a:srgbClr val="47556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20640" y="1764791"/>
            <a:ext cx="7315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Segoe UI"/>
              </a:rPr>
              <a:t>approve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89520" y="2084831"/>
            <a:ext cx="365759" cy="0"/>
          </a:xfrm>
          <a:prstGeom prst="line">
            <a:avLst/>
          </a:prstGeom>
          <a:ln w="19050">
            <a:solidFill>
              <a:srgbClr val="47556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52360" y="1764791"/>
            <a:ext cx="73152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0" i="1">
                <a:solidFill>
                  <a:srgbClr val="64748B"/>
                </a:solidFill>
                <a:latin typeface="Segoe UI"/>
              </a:rPr>
              <a:t>supersede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06240" y="2377440"/>
            <a:ext cx="0" cy="365760"/>
          </a:xfrm>
          <a:prstGeom prst="line">
            <a:avLst/>
          </a:prstGeom>
          <a:ln w="15875">
            <a:solidFill>
              <a:srgbClr val="DC262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828800" y="2743200"/>
            <a:ext cx="2377440" cy="0"/>
          </a:xfrm>
          <a:prstGeom prst="line">
            <a:avLst/>
          </a:prstGeom>
          <a:ln w="15875">
            <a:solidFill>
              <a:srgbClr val="DC262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828800" y="2377440"/>
            <a:ext cx="0" cy="365760"/>
          </a:xfrm>
          <a:prstGeom prst="line">
            <a:avLst/>
          </a:prstGeom>
          <a:ln w="15875">
            <a:solidFill>
              <a:srgbClr val="DC262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77440" y="278892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0" i="1">
                <a:solidFill>
                  <a:srgbClr val="DC2626"/>
                </a:solidFill>
                <a:latin typeface="Segoe UI"/>
              </a:rPr>
              <a:t>reject (with comment)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691640"/>
            <a:ext cx="160020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737360"/>
            <a:ext cx="150876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Pinned versions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2011680"/>
            <a:ext cx="15087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Each LIVE row is the</a:t>
            </a:r>
          </a:p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current suite for a</a:t>
            </a:r>
          </a:p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(dataset, layer) tuple.</a:t>
            </a:r>
          </a:p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History kept in</a:t>
            </a:r>
          </a:p>
          <a:p>
            <a:pPr algn="l"/>
            <a:r>
              <a:rPr sz="900" b="0" i="0">
                <a:solidFill>
                  <a:srgbClr val="475569"/>
                </a:solidFill>
                <a:latin typeface="Segoe UI"/>
              </a:rPr>
              <a:t>dq_suite_versions.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918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What happens when a checkpoint fails</a:t>
            </a:r>
          </a:p>
        </p:txBody>
      </p:sp>
      <p:sp>
        <p:nvSpPr>
          <p:cNvPr id="25" name="Hexagon 24"/>
          <p:cNvSpPr/>
          <p:nvPr/>
        </p:nvSpPr>
        <p:spPr>
          <a:xfrm>
            <a:off x="640080" y="3840480"/>
            <a:ext cx="1828800" cy="822960"/>
          </a:xfrm>
          <a:prstGeom prst="hexagon">
            <a:avLst/>
          </a:prstGeom>
          <a:solidFill>
            <a:srgbClr val="D1FAE5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0F172A"/>
                </a:solidFill>
                <a:latin typeface="Segoe UI"/>
              </a:rPr>
              <a:t>bronze_validate /</a:t>
            </a:r>
          </a:p>
          <a:p>
            <a:pPr algn="ctr"/>
            <a:r>
              <a:rPr sz="1000" b="1" i="0">
                <a:solidFill>
                  <a:srgbClr val="0F172A"/>
                </a:solidFill>
                <a:latin typeface="Segoe UI"/>
              </a:rPr>
              <a:t>silver_dq / gold_dq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542032" y="4160520"/>
            <a:ext cx="365760" cy="18288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ecision 26"/>
          <p:cNvSpPr/>
          <p:nvPr/>
        </p:nvSpPr>
        <p:spPr>
          <a:xfrm>
            <a:off x="3017520" y="3749039"/>
            <a:ext cx="1463040" cy="960120"/>
          </a:xfrm>
          <a:prstGeom prst="flowChartDecision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0F172A"/>
                </a:solidFill>
                <a:latin typeface="Segoe UI"/>
              </a:rPr>
              <a:t>Severity?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26280" y="4023360"/>
            <a:ext cx="685800" cy="0"/>
          </a:xfrm>
          <a:prstGeom prst="line">
            <a:avLst/>
          </a:prstGeom>
          <a:ln w="19050">
            <a:solidFill>
              <a:srgbClr val="DC262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212080" y="3794760"/>
            <a:ext cx="1828800" cy="50292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 i="0">
                <a:solidFill>
                  <a:srgbClr val="DC2626"/>
                </a:solidFill>
                <a:latin typeface="Segoe UI"/>
              </a:rPr>
              <a:t>CRITICAL → HALT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384048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Segoe UI"/>
              </a:rPr>
              <a:t>DAG marked failed · UI banner · ops paged · pipeline_control_state row written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26280" y="4480560"/>
            <a:ext cx="685800" cy="0"/>
          </a:xfrm>
          <a:prstGeom prst="line">
            <a:avLst/>
          </a:prstGeom>
          <a:ln w="19050">
            <a:solidFill>
              <a:srgbClr val="F59E0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212080" y="4297680"/>
            <a:ext cx="1828800" cy="5029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 i="0">
                <a:solidFill>
                  <a:srgbClr val="F59E0B"/>
                </a:solidFill>
                <a:latin typeface="Segoe UI"/>
              </a:rPr>
              <a:t>HIGH → PAUSE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34340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Segoe UI"/>
              </a:rPr>
              <a:t>Downstream tasks blocked · awaits engineer ack in Pipeline Control page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26280" y="4937760"/>
            <a:ext cx="685800" cy="0"/>
          </a:xfrm>
          <a:prstGeom prst="line">
            <a:avLst/>
          </a:prstGeom>
          <a:ln w="19050">
            <a:solidFill>
              <a:srgbClr val="10B98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212080" y="4800600"/>
            <a:ext cx="1828800" cy="5029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 i="0">
                <a:solidFill>
                  <a:srgbClr val="10B981"/>
                </a:solidFill>
                <a:latin typeface="Segoe UI"/>
              </a:rPr>
              <a:t>LOW/MED → ALERT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84632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Segoe UI"/>
              </a:rPr>
              <a:t>Pipeline continues · Grafana panel turns amber · entry in dq_validation_runs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486400"/>
            <a:ext cx="1106424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5321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Segoe UI"/>
              </a:rPr>
              <a:t>Schema drift is its own control track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8064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Segoe UI"/>
              </a:rPr>
              <a:t>Additive change (new nullable column)  →  log + auto-allow      ·      Breaking change (drop / type-narrow)  →  HALTED + manual override required      ·      All events streamed to schema_drift_events_total counter (Grafana)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DataLink Command Center · DQ Demo · 11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53796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Sample suite — membership_bronze · 19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Segoe UI"/>
              </a:rPr>
              <a:t>Auto-generated by DqSuiteArchitectAgent · reviewed by ops · LIVE since 2026-05-09 (suite_id=412).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955279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Segoe UI"/>
              </a:rPr>
              <a:t>Top 8 expectations (full suite has 19)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1554480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Column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737360"/>
            <a:ext cx="3840480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Expectation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737360"/>
            <a:ext cx="1280160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Dim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737360"/>
            <a:ext cx="1280160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Sev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84831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member_id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2084831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expect_column_values_to_not_be_null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084831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i="0">
                <a:solidFill>
                  <a:srgbClr val="0F172A"/>
                </a:solidFill>
                <a:latin typeface="Segoe UI"/>
              </a:rPr>
              <a:t>Completeness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084831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i="0">
                <a:solidFill>
                  <a:srgbClr val="0F172A"/>
                </a:solidFill>
                <a:latin typeface="Segoe UI"/>
              </a:rPr>
              <a:t>critical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32304"/>
            <a:ext cx="15544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member_id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03120" y="2432304"/>
            <a:ext cx="38404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expect_column_values_to_be_unique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432304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i="0">
                <a:solidFill>
                  <a:srgbClr val="0F172A"/>
                </a:solidFill>
                <a:latin typeface="Segoe UI"/>
              </a:rPr>
              <a:t>Uniqueness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2432304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i="0">
                <a:solidFill>
                  <a:srgbClr val="0F172A"/>
                </a:solidFill>
                <a:latin typeface="Segoe UI"/>
              </a:rPr>
              <a:t>critical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79776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member_id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2779776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expect_column_value_lengths_to_be_between (8,12)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779776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i="0">
                <a:solidFill>
                  <a:srgbClr val="0F172A"/>
                </a:solidFill>
                <a:latin typeface="Segoe UI"/>
              </a:rPr>
              <a:t>Validity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2779776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i="0">
                <a:solidFill>
                  <a:srgbClr val="0F172A"/>
                </a:solidFill>
                <a:latin typeface="Segoe UI"/>
              </a:rPr>
              <a:t>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127248"/>
            <a:ext cx="15544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dob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0" y="3127248"/>
            <a:ext cx="38404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expect_column_values_to_be_dateutil_parseable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3127248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i="0">
                <a:solidFill>
                  <a:srgbClr val="0F172A"/>
                </a:solidFill>
                <a:latin typeface="Segoe UI"/>
              </a:rPr>
              <a:t>Validity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3127248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i="0">
                <a:solidFill>
                  <a:srgbClr val="0F172A"/>
                </a:solidFill>
                <a:latin typeface="Segoe UI"/>
              </a:rP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474720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dob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3120" y="3474720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expect_column_values_to_be_between (1900-01-01, today)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3474720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i="0">
                <a:solidFill>
                  <a:srgbClr val="0F172A"/>
                </a:solidFill>
                <a:latin typeface="Segoe UI"/>
              </a:rPr>
              <a:t>Validity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3474720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i="0">
                <a:solidFill>
                  <a:srgbClr val="0F172A"/>
                </a:solidFill>
                <a:latin typeface="Segoe UI"/>
              </a:rPr>
              <a:t>medium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822191"/>
            <a:ext cx="15544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effective_date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03120" y="3822191"/>
            <a:ext cx="38404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expect_column_max_to_be_between (today−7, today)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822191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i="0">
                <a:solidFill>
                  <a:srgbClr val="0F172A"/>
                </a:solidFill>
                <a:latin typeface="Segoe UI"/>
              </a:rPr>
              <a:t>Timeliness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23760" y="3822191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i="0">
                <a:solidFill>
                  <a:srgbClr val="0F172A"/>
                </a:solidFill>
                <a:latin typeface="Segoe UI"/>
              </a:rPr>
              <a:t>high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169664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plan_code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03120" y="4169664"/>
            <a:ext cx="3840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expect_column_values_to_be_in_set (plan_ref)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4169664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i="0">
                <a:solidFill>
                  <a:srgbClr val="0F172A"/>
                </a:solidFill>
                <a:latin typeface="Segoe UI"/>
              </a:rPr>
              <a:t>Accuracy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4169664"/>
            <a:ext cx="12801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i="0">
                <a:solidFill>
                  <a:srgbClr val="0F172A"/>
                </a:solidFill>
                <a:latin typeface="Segoe UI"/>
              </a:rPr>
              <a:t>medium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517136"/>
            <a:ext cx="15544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gender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03120" y="4517136"/>
            <a:ext cx="384048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expect_column_values_to_be_in_set ['M','F','U','X']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517136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i="0">
                <a:solidFill>
                  <a:srgbClr val="0F172A"/>
                </a:solidFill>
                <a:latin typeface="Segoe UI"/>
              </a:rPr>
              <a:t>Validity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23760" y="4517136"/>
            <a:ext cx="128016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 i="0">
                <a:solidFill>
                  <a:srgbClr val="0F172A"/>
                </a:solidFill>
                <a:latin typeface="Segoe UI"/>
              </a:rPr>
              <a:t>low</a:t>
            </a:r>
          </a:p>
        </p:txBody>
      </p:sp>
      <p:sp>
        <p:nvSpPr>
          <p:cNvPr id="43" name="Oval 42"/>
          <p:cNvSpPr/>
          <p:nvPr/>
        </p:nvSpPr>
        <p:spPr>
          <a:xfrm>
            <a:off x="7360920" y="2194560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360920" y="2542032"/>
            <a:ext cx="128016" cy="128016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60920" y="2889504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60920" y="3236976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360920" y="3584448"/>
            <a:ext cx="128016" cy="12801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360920" y="3931920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360920" y="4279392"/>
            <a:ext cx="128016" cy="128016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360920" y="4626864"/>
            <a:ext cx="128016" cy="128016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047488"/>
            <a:ext cx="7955279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1">
                <a:solidFill>
                  <a:srgbClr val="1E3A8A"/>
                </a:solidFill>
                <a:latin typeface="Segoe UI"/>
              </a:rPr>
              <a:t>→ See DQ Suite Registry · /6_DQ_Suite_Registry · suite_id=412 for the full 19-expectation list</a:t>
            </a:r>
          </a:p>
        </p:txBody>
      </p:sp>
      <p:graphicFrame>
        <p:nvGraphicFramePr>
          <p:cNvPr id="52" name="Chart 51"/>
          <p:cNvGraphicFramePr>
            <a:graphicFrameLocks noGrp="1"/>
          </p:cNvGraphicFramePr>
          <p:nvPr/>
        </p:nvGraphicFramePr>
        <p:xfrm>
          <a:off x="8595360" y="1691640"/>
          <a:ext cx="329184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3" name="Rounded Rectangle 52"/>
          <p:cNvSpPr/>
          <p:nvPr/>
        </p:nvSpPr>
        <p:spPr>
          <a:xfrm>
            <a:off x="8595360" y="4800600"/>
            <a:ext cx="3200400" cy="1508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32520" y="4846320"/>
            <a:ext cx="30175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Last 24 h run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5120640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Pass rate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41280" y="5120640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1" i="0">
                <a:solidFill>
                  <a:srgbClr val="10B981"/>
                </a:solidFill>
                <a:latin typeface="Segoe UI"/>
              </a:rPr>
              <a:t>98.4 %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32520" y="5413248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Rows evaluated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0" y="5413248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1" i="0">
                <a:solidFill>
                  <a:srgbClr val="0F172A"/>
                </a:solidFill>
                <a:latin typeface="Segoe UI"/>
              </a:rPr>
              <a:t>1.2 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32520" y="5705856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Critical fails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41280" y="5705856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1" i="0">
                <a:solidFill>
                  <a:srgbClr val="10B981"/>
                </a:solidFill>
                <a:latin typeface="Segoe UI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5998464"/>
            <a:ext cx="16459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High fails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5998464"/>
            <a:ext cx="146304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1" i="0">
                <a:solidFill>
                  <a:srgbClr val="F59E0B"/>
                </a:solidFill>
                <a:latin typeface="Segoe UI"/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DataLink Command Center · DQ Demo · 11 May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653796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Introducing DQ into an existing pipeline — 5 steps · ~10 min per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Segoe UI"/>
              </a:rPr>
              <a:t>What Data Engineering actually has to do · zero changes to existing dbt models or ingestion code.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19456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81912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18488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1E3A8A"/>
                </a:solidFill>
                <a:latin typeface="Segoe UI"/>
              </a:rPr>
              <a:t>Register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1828800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Add one row to CONTROL.datasets</a:t>
            </a:r>
          </a:p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(dataset_code, source, layers)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572000"/>
            <a:ext cx="1828800" cy="91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663440"/>
            <a:ext cx="18288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Segoe UI"/>
              </a:rPr>
              <a:t>Data Engineer · Streamlit page  /14_Data_Model_Designer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02052" y="3337560"/>
            <a:ext cx="109728" cy="182880"/>
          </a:xfrm>
          <a:prstGeom prst="rightArrow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4639" y="1417320"/>
            <a:ext cx="219456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71799" y="1581912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59" y="1618488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Segoe UI"/>
              </a:rPr>
              <a:t>Run AI Architect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331720"/>
            <a:ext cx="1828800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/8_DQ_AI_Architect → pick</a:t>
            </a:r>
          </a:p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(dataset, layer) → Propose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4572000"/>
            <a:ext cx="1828800" cy="91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4663440"/>
            <a:ext cx="18288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Segoe UI"/>
              </a:rPr>
              <a:t>AI generates ≤30 expectations</a:t>
            </a:r>
          </a:p>
          <a:p>
            <a:pPr algn="l"/>
            <a:r>
              <a:rPr sz="900" b="0" i="1">
                <a:solidFill>
                  <a:srgbClr val="64748B"/>
                </a:solidFill>
                <a:latin typeface="Segoe UI"/>
              </a:rPr>
              <a:t>in ~6 seconds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033772" y="3337560"/>
            <a:ext cx="109728" cy="18288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66359" y="1417320"/>
            <a:ext cx="219456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303520" y="1581912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79" y="1618488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Segoe UI"/>
              </a:rPr>
              <a:t>Review &amp; promote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2331720"/>
            <a:ext cx="1828800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/1_DQ_Author → tweak severities →</a:t>
            </a:r>
          </a:p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Submit · /2_DQ_Review → Approve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4572000"/>
            <a:ext cx="1828800" cy="9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4663440"/>
            <a:ext cx="18288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Segoe UI"/>
              </a:rPr>
              <a:t>Engineer · Reviewer (4 eyes)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365492" y="3337560"/>
            <a:ext cx="109728" cy="18288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98079" y="1417320"/>
            <a:ext cx="219456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635240" y="1581912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1618488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Factory picks up suite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59" y="2331720"/>
            <a:ext cx="1828800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dags/_factory_&lt;dataset&gt;.py auto-</a:t>
            </a:r>
          </a:p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wires bronze_validate / silver_dq /</a:t>
            </a:r>
          </a:p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gold_dq tasks · no DAG edits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59" y="4572000"/>
            <a:ext cx="1828800" cy="914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59" y="4663440"/>
            <a:ext cx="18288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Segoe UI"/>
              </a:rPr>
              <a:t>Zero engineer touch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697212" y="3337560"/>
            <a:ext cx="109728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829800" y="1417320"/>
            <a:ext cx="219456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966960" y="1581912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2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1320" y="1618488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  <a:latin typeface="Segoe UI"/>
              </a:rPr>
              <a:t>Dashboards light 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2331720"/>
            <a:ext cx="1828800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Grafana datalink_dq_quality panels</a:t>
            </a:r>
          </a:p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render pass-rate + dim breakdown.</a:t>
            </a:r>
          </a:p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Drift counter starts ticking.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12680" y="4572000"/>
            <a:ext cx="1828800" cy="914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2680" y="4663440"/>
            <a:ext cx="18288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  <a:latin typeface="Segoe UI"/>
              </a:rPr>
              <a:t>Live in next DAG run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669280"/>
            <a:ext cx="11155680" cy="685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715000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What does NOT change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Segoe UI"/>
              </a:rPr>
              <a:t>Your dbt models · your ingestion code · your Airflow scheduler config · your Snowflake schemas · your CI / CD.  DQ slots in as new Airflow tasks — nothing existing has to move.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DataLink Command Center · DQ Demo · 11 May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653796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14300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Segoe UI"/>
              </a:rPr>
              <a:t>Live reports — GX Data Docs + Grafana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Segoe UI"/>
              </a:rPr>
              <a:t>Two surfaces · one source of truth · both backed by dq_validation_runs in Snowflake.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15568"/>
            <a:ext cx="11064240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66928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GX Data Docs · per-run HTML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5669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66928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783080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1" y="1783080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" y="1783080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1719072"/>
            <a:ext cx="475488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0">
                <a:solidFill>
                  <a:srgbClr val="DBEAFE"/>
                </a:solidFill>
                <a:latin typeface="Segoe UI"/>
              </a:rPr>
              <a:t>  http://localhost:8089/data_docs/...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548640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Segoe UI"/>
              </a:rPr>
              <a:t>Suite: membership_bronze · Run 412 · 2026-05-11 06:42 UTC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468880"/>
            <a:ext cx="12344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1E3A8A"/>
                </a:solidFill>
                <a:latin typeface="Segoe UI"/>
              </a:rPr>
              <a:t>19 evaluated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2468880"/>
            <a:ext cx="12344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10B981"/>
                </a:solidFill>
                <a:latin typeface="Segoe UI"/>
              </a:rPr>
              <a:t>17 passed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2468880"/>
            <a:ext cx="12344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F59E0B"/>
                </a:solidFill>
                <a:latin typeface="Segoe UI"/>
              </a:rPr>
              <a:t>2 failed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468880"/>
            <a:ext cx="12344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 i="0">
                <a:solidFill>
                  <a:srgbClr val="10B981"/>
                </a:solidFill>
                <a:latin typeface="Segoe UI"/>
              </a:rPr>
              <a:t>0 critical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971800"/>
            <a:ext cx="544068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017520"/>
            <a:ext cx="2743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026664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member_id  · not null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026664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  <a:latin typeface="Segoe UI"/>
              </a:rPr>
              <a:t>100 %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429000"/>
            <a:ext cx="544068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3474720"/>
            <a:ext cx="2743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483864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member_id  · unique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483864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  <a:latin typeface="Segoe UI"/>
              </a:rPr>
              <a:t>100 %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886200"/>
            <a:ext cx="544068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931920"/>
            <a:ext cx="2743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Segoe UI"/>
              </a:rPr>
              <a:t>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941063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dob  · between (1900, today)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941063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  <a:latin typeface="Segoe UI"/>
              </a:rPr>
              <a:t>99.7 %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343400"/>
            <a:ext cx="544068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4389120"/>
            <a:ext cx="2743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398264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effective_date  · max within 7d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4398264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  <a:latin typeface="Segoe UI"/>
              </a:rPr>
              <a:t>100 %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800600"/>
            <a:ext cx="544068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4846320"/>
            <a:ext cx="2743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Segoe UI"/>
              </a:rPr>
              <a:t>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855464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plan_code  · in plan_ref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4855464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  <a:latin typeface="Segoe UI"/>
              </a:rPr>
              <a:t>98.4 %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257800"/>
            <a:ext cx="5440680" cy="3840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5303520"/>
            <a:ext cx="27432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Segoe U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312664"/>
            <a:ext cx="36576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Segoe UI"/>
              </a:rPr>
              <a:t>gender  · in set [M,F,U,X]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5312664"/>
            <a:ext cx="109728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  <a:latin typeface="Segoe UI"/>
              </a:rPr>
              <a:t>100 %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1325880"/>
            <a:ext cx="5303520" cy="3200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Segoe UI"/>
              </a:rPr>
              <a:t>Grafana · datalink_dq_quality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55080" y="1691640"/>
            <a:ext cx="5349240" cy="4572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46520" y="1783080"/>
            <a:ext cx="2514600" cy="2103120"/>
          </a:xfrm>
          <a:prstGeom prst="rect">
            <a:avLst/>
          </a:prstGeom>
          <a:solidFill>
            <a:srgbClr val="181B1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1828800"/>
            <a:ext cx="25146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Segoe UI"/>
              </a:rPr>
              <a:t>DQ pass rate (24h)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2194560"/>
            <a:ext cx="2514600" cy="11887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5800" b="1" i="0">
                <a:solidFill>
                  <a:srgbClr val="10B981"/>
                </a:solidFill>
                <a:latin typeface="Segoe UI"/>
              </a:rPr>
              <a:t>98.4 %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383280"/>
            <a:ext cx="25146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  <a:latin typeface="Segoe UI"/>
              </a:rPr>
              <a:t>▲ 0.6 pp vs prior 24h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06840" y="1783080"/>
            <a:ext cx="2514600" cy="2103120"/>
          </a:xfrm>
          <a:prstGeom prst="rect">
            <a:avLst/>
          </a:prstGeom>
          <a:solidFill>
            <a:srgbClr val="181B1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06840" y="1828800"/>
            <a:ext cx="25146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Segoe UI"/>
              </a:rPr>
              <a:t>Fails by dimension (24h)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35440" y="3520440"/>
            <a:ext cx="266699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89720" y="3584448"/>
            <a:ext cx="3581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0" i="0">
                <a:solidFill>
                  <a:srgbClr val="E2E8F0"/>
                </a:solidFill>
                <a:latin typeface="Segoe UI"/>
              </a:rPr>
              <a:t>Compl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3291840"/>
            <a:ext cx="35814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Segoe UI"/>
              </a:rP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93580" y="3520440"/>
            <a:ext cx="266699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47860" y="3584448"/>
            <a:ext cx="3581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0" i="0">
                <a:solidFill>
                  <a:srgbClr val="E2E8F0"/>
                </a:solidFill>
                <a:latin typeface="Segoe UI"/>
              </a:rPr>
              <a:t>Uniq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47860" y="3291840"/>
            <a:ext cx="35814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Segoe UI"/>
              </a:rPr>
              <a:t>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51720" y="2194560"/>
            <a:ext cx="266699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06000" y="3584448"/>
            <a:ext cx="3581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0" i="0">
                <a:solidFill>
                  <a:srgbClr val="E2E8F0"/>
                </a:solidFill>
                <a:latin typeface="Segoe UI"/>
              </a:rPr>
              <a:t>Valid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06000" y="1965960"/>
            <a:ext cx="35814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309860" y="3451860"/>
            <a:ext cx="266699" cy="1143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64140" y="3584448"/>
            <a:ext cx="3581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0" i="0">
                <a:solidFill>
                  <a:srgbClr val="E2E8F0"/>
                </a:solidFill>
                <a:latin typeface="Segoe UI"/>
              </a:rPr>
              <a:t>Cons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64140" y="3223260"/>
            <a:ext cx="35814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668000" y="3520440"/>
            <a:ext cx="266699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622280" y="3584448"/>
            <a:ext cx="3581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0" i="0">
                <a:solidFill>
                  <a:srgbClr val="E2E8F0"/>
                </a:solidFill>
                <a:latin typeface="Segoe UI"/>
              </a:rPr>
              <a:t>Time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22280" y="3291840"/>
            <a:ext cx="35814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Segoe UI"/>
              </a:rPr>
              <a:t>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026140" y="3108960"/>
            <a:ext cx="266699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80420" y="3584448"/>
            <a:ext cx="35814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0" i="0">
                <a:solidFill>
                  <a:srgbClr val="E2E8F0"/>
                </a:solidFill>
                <a:latin typeface="Segoe UI"/>
              </a:rPr>
              <a:t>Acc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80420" y="2880360"/>
            <a:ext cx="358140" cy="2011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46520" y="3931920"/>
            <a:ext cx="2514600" cy="2103120"/>
          </a:xfrm>
          <a:prstGeom prst="rect">
            <a:avLst/>
          </a:prstGeom>
          <a:solidFill>
            <a:srgbClr val="181B1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46520" y="3977639"/>
            <a:ext cx="25146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Segoe UI"/>
              </a:rPr>
              <a:t>Pass rate over time (7d)</a:t>
            </a:r>
          </a:p>
        </p:txBody>
      </p:sp>
      <p:cxnSp>
        <p:nvCxnSpPr>
          <p:cNvPr id="70" name="Connector 69"/>
          <p:cNvCxnSpPr/>
          <p:nvPr/>
        </p:nvCxnSpPr>
        <p:spPr>
          <a:xfrm flipV="1">
            <a:off x="6629400" y="4965192"/>
            <a:ext cx="179070" cy="64007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808470" y="4965192"/>
            <a:ext cx="179070" cy="89611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87540" y="4875580"/>
            <a:ext cx="179070" cy="179223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166610" y="4773168"/>
            <a:ext cx="179070" cy="102412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45680" y="4773168"/>
            <a:ext cx="179069" cy="51206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524749" y="4721961"/>
            <a:ext cx="179071" cy="102413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703820" y="4645151"/>
            <a:ext cx="179070" cy="7681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882890" y="4619548"/>
            <a:ext cx="179070" cy="25603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8061960" y="4542739"/>
            <a:ext cx="179069" cy="76809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8241029" y="4491532"/>
            <a:ext cx="179071" cy="51207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8420100" y="4440326"/>
            <a:ext cx="179070" cy="51206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8599170" y="4414723"/>
            <a:ext cx="179070" cy="25603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446520" y="5760720"/>
            <a:ext cx="2514600" cy="228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0" i="0">
                <a:solidFill>
                  <a:srgbClr val="E2E8F0"/>
                </a:solidFill>
                <a:latin typeface="Segoe UI"/>
              </a:rPr>
              <a:t>May 4    May 6    May 8    May 10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06840" y="3931920"/>
            <a:ext cx="2514600" cy="2103120"/>
          </a:xfrm>
          <a:prstGeom prst="rect">
            <a:avLst/>
          </a:prstGeom>
          <a:solidFill>
            <a:srgbClr val="181B1F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006840" y="3977639"/>
            <a:ext cx="25146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Segoe UI"/>
              </a:rPr>
              <a:t>Schema drift events (7d)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06840" y="4297680"/>
            <a:ext cx="25146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5800" b="1" i="0">
                <a:solidFill>
                  <a:srgbClr val="F59E0B"/>
                </a:solidFill>
                <a:latin typeface="Segoe UI"/>
              </a:rP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06840" y="5212079"/>
            <a:ext cx="25146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900" b="0" i="0">
                <a:solidFill>
                  <a:srgbClr val="E2E8F0"/>
                </a:solidFill>
                <a:latin typeface="Segoe UI"/>
              </a:rPr>
              <a:t>2 additive · 1 breaking (halted)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06840" y="5486400"/>
            <a:ext cx="25146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800" b="0" i="1">
                <a:solidFill>
                  <a:srgbClr val="F59E0B"/>
                </a:solidFill>
                <a:latin typeface="Segoe UI"/>
              </a:rPr>
              <a:t>→ aetna_claims · column 'tax_id' dropped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DataLink Command Center · DQ Demo · 11 May 2026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0" y="653796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egoe UI"/>
              </a:rPr>
              <a:t>Recap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0" i="0">
                <a:solidFill>
                  <a:srgbClr val="DBEAFE"/>
                </a:solidFill>
                <a:latin typeface="Segoe UI"/>
              </a:rPr>
              <a:t>Three things to take away — and what we want from Data Engineering.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6576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365760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68879"/>
            <a:ext cx="31089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Segoe UI"/>
              </a:rPr>
              <a:t>DQ lives in the DAG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3108960" cy="1371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Three GX checkpoints become first-class Airflow tasks.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Fails halt or pause — never silently leak to Gold.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94560"/>
            <a:ext cx="36576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194560"/>
            <a:ext cx="3657600" cy="137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468879"/>
            <a:ext cx="31089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1" i="0">
                <a:solidFill>
                  <a:srgbClr val="7C3AED"/>
                </a:solidFill>
                <a:latin typeface="Segoe UI"/>
              </a:rPr>
              <a:t>AI authors the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017520"/>
            <a:ext cx="3108960" cy="1371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DqSuiteArchitectAgent (Claude Haiku) drafts ≤30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expectations balanced across 6 dimensions in ~6 seconds.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194560"/>
            <a:ext cx="3657600" cy="2286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194560"/>
            <a:ext cx="3657600" cy="137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468879"/>
            <a:ext cx="310896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1" i="0">
                <a:solidFill>
                  <a:srgbClr val="1E3A8A"/>
                </a:solidFill>
                <a:latin typeface="Segoe UI"/>
              </a:rPr>
              <a:t>Zero pipeline rewrite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017520"/>
            <a:ext cx="3108960" cy="13716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Factory DAGs auto-wire the new tasks once a suite is LIVE.</a:t>
            </a:r>
          </a:p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dbt models, ingestion, schedules untouched.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846320"/>
            <a:ext cx="10972800" cy="11887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937760"/>
            <a:ext cx="105156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Segoe UI"/>
              </a:rPr>
              <a:t>Ask from Data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34924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Segoe UI"/>
              </a:rPr>
              <a:t>Pick one production dataset (membership_bronze is the obvious one).  Give us 30 min to walk you through the 5-step adoption.  We'll have its suite LIVE and panels rendering same session.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DataLink Command Center · jatin.bhanot@datalink.com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Segoe U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